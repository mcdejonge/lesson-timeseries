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9"/>
  </p:notesMasterIdLst>
  <p:handoutMasterIdLst>
    <p:handoutMasterId r:id="rId20"/>
  </p:handoutMasterIdLst>
  <p:sldIdLst>
    <p:sldId id="257" r:id="rId5"/>
    <p:sldId id="280" r:id="rId6"/>
    <p:sldId id="281" r:id="rId7"/>
    <p:sldId id="282" r:id="rId8"/>
    <p:sldId id="283" r:id="rId9"/>
    <p:sldId id="284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03">
          <p15:clr>
            <a:srgbClr val="A4A3A4"/>
          </p15:clr>
        </p15:guide>
        <p15:guide id="2" orient="horz" pos="1503">
          <p15:clr>
            <a:srgbClr val="A4A3A4"/>
          </p15:clr>
        </p15:guide>
        <p15:guide id="3" orient="horz" pos="3863">
          <p15:clr>
            <a:srgbClr val="A4A3A4"/>
          </p15:clr>
        </p15:guide>
        <p15:guide id="4" orient="horz" pos="1009">
          <p15:clr>
            <a:srgbClr val="A4A3A4"/>
          </p15:clr>
        </p15:guide>
        <p15:guide id="5" pos="5599">
          <p15:clr>
            <a:srgbClr val="A4A3A4"/>
          </p15:clr>
        </p15:guide>
        <p15:guide id="6" pos="1818">
          <p15:clr>
            <a:srgbClr val="A4A3A4"/>
          </p15:clr>
        </p15:guide>
        <p15:guide id="7" pos="153">
          <p15:clr>
            <a:srgbClr val="A4A3A4"/>
          </p15:clr>
        </p15:guide>
        <p15:guide id="8" pos="167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8657"/>
    <a:srgbClr val="A9976A"/>
    <a:srgbClr val="837752"/>
    <a:srgbClr val="AC9660"/>
    <a:srgbClr val="FFE411"/>
    <a:srgbClr val="FFFFFF"/>
    <a:srgbClr val="FED913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14" autoAdjust="0"/>
    <p:restoredTop sz="94658" autoAdjust="0"/>
  </p:normalViewPr>
  <p:slideViewPr>
    <p:cSldViewPr snapToGrid="0" snapToObjects="1">
      <p:cViewPr varScale="1">
        <p:scale>
          <a:sx n="120" d="100"/>
          <a:sy n="120" d="100"/>
        </p:scale>
        <p:origin x="1632" y="184"/>
      </p:cViewPr>
      <p:guideLst>
        <p:guide orient="horz" pos="4003"/>
        <p:guide orient="horz" pos="1503"/>
        <p:guide orient="horz" pos="3863"/>
        <p:guide orient="horz" pos="1009"/>
        <p:guide pos="5599"/>
        <p:guide pos="1818"/>
        <p:guide pos="153"/>
        <p:guide pos="16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D7098F-87C7-3046-B8E1-0317C0D8D9C4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E41DC2-B95D-474E-A103-7B49B8540033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92522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83074A2-D88D-8F43-B619-246CA3905610}" type="datetimeFigureOut">
              <a:rPr lang="en-US" smtClean="0"/>
              <a:t>9/3/25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Click to edit Master text styles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/>
              <a:t>Third level</a:t>
            </a:r>
          </a:p>
          <a:p>
            <a:pPr lvl="3"/>
            <a:r>
              <a:rPr lang="nl-NL"/>
              <a:t>Fourth level</a:t>
            </a:r>
          </a:p>
          <a:p>
            <a:pPr lvl="4"/>
            <a:r>
              <a:rPr lang="nl-NL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8542CC-6F26-A34B-8E15-4341DD4E0F8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309983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Afbeelding 4">
            <a:extLst>
              <a:ext uri="{FF2B5EF4-FFF2-40B4-BE49-F238E27FC236}">
                <a16:creationId xmlns:a16="http://schemas.microsoft.com/office/drawing/2014/main" id="{3E43DDCB-339E-4C3A-9E9E-C22943510D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3907" y="1624877"/>
            <a:ext cx="3997787" cy="2545109"/>
          </a:xfrm>
          <a:prstGeom prst="rect">
            <a:avLst/>
          </a:prstGeom>
        </p:spPr>
      </p:pic>
      <p:sp>
        <p:nvSpPr>
          <p:cNvPr id="29" name="Tijdelijke aanduiding voor tekst 28">
            <a:extLst>
              <a:ext uri="{FF2B5EF4-FFF2-40B4-BE49-F238E27FC236}">
                <a16:creationId xmlns:a16="http://schemas.microsoft.com/office/drawing/2014/main" id="{FDED8E11-341A-45D2-85B1-F7C4DB53232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9926" y="5095875"/>
            <a:ext cx="7839075" cy="1009650"/>
          </a:xfrm>
        </p:spPr>
        <p:txBody>
          <a:bodyPr>
            <a:normAutofit/>
          </a:bodyPr>
          <a:lstStyle>
            <a:lvl1pPr marL="0" indent="0">
              <a:buNone/>
              <a:defRPr lang="en-GB" sz="2475" b="0" i="0" u="none" strike="noStrike" cap="none" spc="0" baseline="0" dirty="0">
                <a:ln>
                  <a:noFill/>
                </a:ln>
                <a:solidFill>
                  <a:srgbClr val="000000"/>
                </a:solidFill>
                <a:uFillTx/>
                <a:latin typeface="Avenir Next Condensed"/>
                <a:ea typeface="Avenir Next Condensed Medium"/>
                <a:cs typeface="Avenir Next Condensed Medium"/>
                <a:sym typeface="Avenir Next Condensed Medium"/>
              </a:defRPr>
            </a:lvl1pPr>
          </a:lstStyle>
          <a:p>
            <a:pPr lvl="0"/>
            <a:r>
              <a:rPr lang="nl-NL" dirty="0"/>
              <a:t>VOORBEELD VAN EEN ONDERTITEL</a:t>
            </a:r>
            <a:endParaRPr lang="en-GB" dirty="0"/>
          </a:p>
        </p:txBody>
      </p:sp>
      <p:sp>
        <p:nvSpPr>
          <p:cNvPr id="34" name="Tijdelijke aanduiding voor tekst 33">
            <a:extLst>
              <a:ext uri="{FF2B5EF4-FFF2-40B4-BE49-F238E27FC236}">
                <a16:creationId xmlns:a16="http://schemas.microsoft.com/office/drawing/2014/main" id="{D9C3A310-643B-4139-9F62-77D06674713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69925" y="1196299"/>
            <a:ext cx="7844102" cy="588915"/>
          </a:xfrm>
        </p:spPr>
        <p:txBody>
          <a:bodyPr anchor="b">
            <a:noAutofit/>
          </a:bodyPr>
          <a:lstStyle>
            <a:lvl1pPr marL="0" indent="0">
              <a:buNone/>
              <a:defRPr lang="nl-NL" sz="1846" b="0" kern="1200" baseline="0" dirty="0" smtClean="0">
                <a:solidFill>
                  <a:srgbClr val="E50856"/>
                </a:solidFill>
                <a:latin typeface="Avenir Next Condensed"/>
                <a:ea typeface="Avenir Next Condensed Demi Bold"/>
                <a:cs typeface="Avenir Next Condensed Demi Bold"/>
                <a:sym typeface="Avenir Next Condensed Demi Bold"/>
              </a:defRPr>
            </a:lvl1pPr>
          </a:lstStyle>
          <a:p>
            <a:pPr lvl="0"/>
            <a:r>
              <a:rPr lang="nl-NL" dirty="0"/>
              <a:t>NAAM OPLEIDING/FACULTEIT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D3983EC9-36B1-B744-A87D-1AA0BEB38BF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69925" y="1895907"/>
            <a:ext cx="7839075" cy="3089275"/>
          </a:xfrm>
        </p:spPr>
        <p:txBody>
          <a:bodyPr>
            <a:normAutofit/>
          </a:bodyPr>
          <a:lstStyle>
            <a:lvl1pPr marL="0" indent="0">
              <a:buNone/>
              <a:defRPr sz="6750" b="1">
                <a:latin typeface="Avenir Next Condensed" panose="020B0506020202020204" pitchFamily="34" charset="0"/>
              </a:defRPr>
            </a:lvl1pPr>
          </a:lstStyle>
          <a:p>
            <a:r>
              <a:rPr lang="nl-NL" dirty="0"/>
              <a:t>VOORBEELD VAN EEN TITEL_</a:t>
            </a:r>
          </a:p>
        </p:txBody>
      </p:sp>
    </p:spTree>
    <p:extLst>
      <p:ext uri="{BB962C8B-B14F-4D97-AF65-F5344CB8AC3E}">
        <p14:creationId xmlns:p14="http://schemas.microsoft.com/office/powerpoint/2010/main" val="35850066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CA991A77-E592-4927-BAD8-5D3406246AE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788670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D13B7015-BB4D-A84E-84E4-520C33B85D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26315508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tekst 4">
            <a:extLst>
              <a:ext uri="{FF2B5EF4-FFF2-40B4-BE49-F238E27FC236}">
                <a16:creationId xmlns:a16="http://schemas.microsoft.com/office/drawing/2014/main" id="{04E48767-DBA0-4144-B07A-E0457FACAB7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4" name="Titel 6">
            <a:extLst>
              <a:ext uri="{FF2B5EF4-FFF2-40B4-BE49-F238E27FC236}">
                <a16:creationId xmlns:a16="http://schemas.microsoft.com/office/drawing/2014/main" id="{24158585-8C9B-2444-8413-2968F1CB97F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467480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, Tekst en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jdelijke aanduiding voor afbeelding 5">
            <a:extLst>
              <a:ext uri="{FF2B5EF4-FFF2-40B4-BE49-F238E27FC236}">
                <a16:creationId xmlns:a16="http://schemas.microsoft.com/office/drawing/2014/main" id="{260C8E6A-14DF-4CBC-B795-FDA284EC4712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914902" y="1917701"/>
            <a:ext cx="3600450" cy="4259263"/>
          </a:xfrm>
        </p:spPr>
        <p:txBody>
          <a:bodyPr>
            <a:normAutofit/>
          </a:bodyPr>
          <a:lstStyle>
            <a:lvl1pPr>
              <a:defRPr sz="1275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nl-NL"/>
              <a:t>Klik op het pictogram als u een afbeelding wilt toevoegen</a:t>
            </a:r>
            <a:endParaRPr lang="en-GB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BF1329CB-FA5D-45B5-AA42-AC585215A18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1925638"/>
            <a:ext cx="3943350" cy="425926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7" name="Titel 6">
            <a:extLst>
              <a:ext uri="{FF2B5EF4-FFF2-40B4-BE49-F238E27FC236}">
                <a16:creationId xmlns:a16="http://schemas.microsoft.com/office/drawing/2014/main" id="{70688633-6D41-064D-B005-BBA9338D0D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33513615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bbe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tekst 4">
            <a:extLst>
              <a:ext uri="{FF2B5EF4-FFF2-40B4-BE49-F238E27FC236}">
                <a16:creationId xmlns:a16="http://schemas.microsoft.com/office/drawing/2014/main" id="{4B8653B3-70AE-4E3E-9A4D-3EAF4B4F4A9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91490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10" name="Tijdelijke aanduiding voor tekst 4">
            <a:extLst>
              <a:ext uri="{FF2B5EF4-FFF2-40B4-BE49-F238E27FC236}">
                <a16:creationId xmlns:a16="http://schemas.microsoft.com/office/drawing/2014/main" id="{60C7571E-BBB1-4DDF-9329-A0C028CAE8F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8650" y="1778434"/>
            <a:ext cx="3600450" cy="413103"/>
          </a:xfrm>
        </p:spPr>
        <p:txBody>
          <a:bodyPr anchor="ctr">
            <a:normAutofit/>
          </a:bodyPr>
          <a:lstStyle>
            <a:lvl1pPr marL="0" indent="0">
              <a:buNone/>
              <a:defRPr sz="1600" b="1"/>
            </a:lvl1pPr>
          </a:lstStyle>
          <a:p>
            <a:pPr lvl="0"/>
            <a:r>
              <a:rPr lang="nl-NL" dirty="0"/>
              <a:t>Klik om een tekst toe te voegen</a:t>
            </a:r>
            <a:endParaRPr lang="en-GB" dirty="0"/>
          </a:p>
        </p:txBody>
      </p:sp>
      <p:sp>
        <p:nvSpPr>
          <p:cNvPr id="7" name="Tijdelijke aanduiding voor tekst 4">
            <a:extLst>
              <a:ext uri="{FF2B5EF4-FFF2-40B4-BE49-F238E27FC236}">
                <a16:creationId xmlns:a16="http://schemas.microsoft.com/office/drawing/2014/main" id="{CE54818A-2359-4656-8BAE-BA7A617F318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2865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11" name="Tijdelijke aanduiding voor tekst 4">
            <a:extLst>
              <a:ext uri="{FF2B5EF4-FFF2-40B4-BE49-F238E27FC236}">
                <a16:creationId xmlns:a16="http://schemas.microsoft.com/office/drawing/2014/main" id="{750B259D-85C8-43A7-A164-0E5FF89B8B8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914900" y="2279280"/>
            <a:ext cx="3600450" cy="3905622"/>
          </a:xfrm>
        </p:spPr>
        <p:txBody>
          <a:bodyPr>
            <a:normAutofit/>
          </a:bodyPr>
          <a:lstStyle>
            <a:lvl1pPr marL="0" indent="0">
              <a:spcBef>
                <a:spcPts val="750"/>
              </a:spcBef>
              <a:buFont typeface="Arial" panose="020B0604020202020204" pitchFamily="34" charset="0"/>
              <a:buNone/>
              <a:defRPr sz="2000"/>
            </a:lvl1pPr>
          </a:lstStyle>
          <a:p>
            <a:pPr lvl="0"/>
            <a:r>
              <a:rPr lang="nl-NL" dirty="0"/>
              <a:t>Voorbeeldtekst</a:t>
            </a:r>
          </a:p>
        </p:txBody>
      </p:sp>
      <p:sp>
        <p:nvSpPr>
          <p:cNvPr id="8" name="Titel 6">
            <a:extLst>
              <a:ext uri="{FF2B5EF4-FFF2-40B4-BE49-F238E27FC236}">
                <a16:creationId xmlns:a16="http://schemas.microsoft.com/office/drawing/2014/main" id="{AB6897B6-1B30-8840-AEF5-653E3015C3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8650" y="365129"/>
            <a:ext cx="7886700" cy="1325563"/>
          </a:xfrm>
        </p:spPr>
        <p:txBody>
          <a:bodyPr anchor="b">
            <a:normAutofit/>
          </a:bodyPr>
          <a:lstStyle>
            <a:lvl1pPr>
              <a:defRPr sz="3200">
                <a:solidFill>
                  <a:srgbClr val="E50056"/>
                </a:solidFill>
              </a:defRPr>
            </a:lvl1pPr>
          </a:lstStyle>
          <a:p>
            <a:r>
              <a:rPr lang="nl-NL" dirty="0"/>
              <a:t>VOORBEELD VAN EEN ONDERWERP</a:t>
            </a:r>
          </a:p>
        </p:txBody>
      </p:sp>
    </p:spTree>
    <p:extLst>
      <p:ext uri="{BB962C8B-B14F-4D97-AF65-F5344CB8AC3E}">
        <p14:creationId xmlns:p14="http://schemas.microsoft.com/office/powerpoint/2010/main" val="2813011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">
            <a:extLst>
              <a:ext uri="{FF2B5EF4-FFF2-40B4-BE49-F238E27FC236}">
                <a16:creationId xmlns:a16="http://schemas.microsoft.com/office/drawing/2014/main" id="{2F35E840-7D0C-489A-B88C-9B5B6A358F43}"/>
              </a:ext>
            </a:extLst>
          </p:cNvPr>
          <p:cNvSpPr/>
          <p:nvPr/>
        </p:nvSpPr>
        <p:spPr>
          <a:xfrm>
            <a:off x="2362200" y="733425"/>
            <a:ext cx="4419600" cy="5391150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>
              <a:defRPr sz="3200" b="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 sz="2400"/>
          </a:p>
        </p:txBody>
      </p:sp>
      <p:pic>
        <p:nvPicPr>
          <p:cNvPr id="14" name="Afbeelding 2">
            <a:extLst>
              <a:ext uri="{FF2B5EF4-FFF2-40B4-BE49-F238E27FC236}">
                <a16:creationId xmlns:a16="http://schemas.microsoft.com/office/drawing/2014/main" id="{FFDA8079-95BD-45E3-8313-ABF6A59ED2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162" y="601590"/>
            <a:ext cx="355939" cy="297299"/>
          </a:xfrm>
          <a:prstGeom prst="rect">
            <a:avLst/>
          </a:prstGeom>
        </p:spPr>
      </p:pic>
      <p:sp>
        <p:nvSpPr>
          <p:cNvPr id="20" name="Tijdelijke aanduiding voor tekst 19">
            <a:extLst>
              <a:ext uri="{FF2B5EF4-FFF2-40B4-BE49-F238E27FC236}">
                <a16:creationId xmlns:a16="http://schemas.microsoft.com/office/drawing/2014/main" id="{7E150451-5081-475D-A7BF-2CE6F5C377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730162" y="5429601"/>
            <a:ext cx="3683000" cy="493713"/>
          </a:xfrm>
        </p:spPr>
        <p:txBody>
          <a:bodyPr anchor="b"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NAAM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B0DA6865-FA7E-094E-A575-DAADE998A20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730162" y="1628775"/>
            <a:ext cx="3683000" cy="3600450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</a:lstStyle>
          <a:p>
            <a:r>
              <a:rPr lang="nl-NL" dirty="0"/>
              <a:t>‘QUOTE’</a:t>
            </a:r>
          </a:p>
        </p:txBody>
      </p:sp>
    </p:spTree>
    <p:extLst>
      <p:ext uri="{BB962C8B-B14F-4D97-AF65-F5344CB8AC3E}">
        <p14:creationId xmlns:p14="http://schemas.microsoft.com/office/powerpoint/2010/main" val="29675528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D6486190-F1D1-43BB-B712-AB7BE1C184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9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nl-NL" dirty="0"/>
              <a:t>KLIK OM STIJL TE BEWERKEN</a:t>
            </a:r>
            <a:endParaRPr lang="en-GB" dirty="0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BC46703-C372-4CCF-BBDB-349EF159E7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 dirty="0"/>
              <a:t>Tekststijl van het model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  <a:p>
            <a:pPr lvl="4"/>
            <a:r>
              <a:rPr lang="nl-NL" dirty="0"/>
              <a:t>Vijfde niveau</a:t>
            </a:r>
            <a:endParaRPr lang="en-GB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2936B9B-9586-48DE-B845-C54BC129D8BB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9807" y="6227764"/>
            <a:ext cx="1359194" cy="588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3746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defTabSz="514337" rtl="0" eaLnBrk="1" latinLnBrk="0" hangingPunct="1">
        <a:lnSpc>
          <a:spcPct val="90000"/>
        </a:lnSpc>
        <a:spcBef>
          <a:spcPct val="0"/>
        </a:spcBef>
        <a:buNone/>
        <a:defRPr lang="nl-NL" sz="3200" b="0" kern="1200" baseline="0" dirty="0">
          <a:solidFill>
            <a:srgbClr val="E50056"/>
          </a:solidFill>
          <a:latin typeface="Avenir Next Condensed" panose="020B0506020202020204" pitchFamily="34" charset="0"/>
          <a:ea typeface="+mj-ea"/>
          <a:cs typeface="Arial" panose="020B0604020202020204" pitchFamily="34" charset="0"/>
          <a:sym typeface="Avenir Next Condensed Demi Bold"/>
        </a:defRPr>
      </a:lvl1pPr>
    </p:titleStyle>
    <p:bodyStyle>
      <a:lvl1pPr marL="128585" indent="-128585" algn="l" defTabSz="514337" rtl="0" eaLnBrk="1" latinLnBrk="0" hangingPunct="1">
        <a:lnSpc>
          <a:spcPct val="8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385753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642921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900090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157259" indent="-128585" algn="l" defTabSz="514337" rtl="0" eaLnBrk="1" latinLnBrk="0" hangingPunct="1">
        <a:lnSpc>
          <a:spcPct val="80000"/>
        </a:lnSpc>
        <a:spcBef>
          <a:spcPts val="281"/>
        </a:spcBef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414427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671596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928765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185933" indent="-128585" algn="l" defTabSz="514337" rtl="0" eaLnBrk="1" latinLnBrk="0" hangingPunct="1">
        <a:lnSpc>
          <a:spcPct val="90000"/>
        </a:lnSpc>
        <a:spcBef>
          <a:spcPts val="281"/>
        </a:spcBef>
        <a:buFont typeface="Arial" panose="020B0604020202020204" pitchFamily="34" charset="0"/>
        <a:buChar char="•"/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1pPr>
      <a:lvl2pPr marL="25716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2pPr>
      <a:lvl3pPr marL="514337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3pPr>
      <a:lvl4pPr marL="771506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4pPr>
      <a:lvl5pPr marL="1028675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5pPr>
      <a:lvl6pPr marL="1285843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6pPr>
      <a:lvl7pPr marL="1543011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7pPr>
      <a:lvl8pPr marL="1800180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8pPr>
      <a:lvl9pPr marL="2057349" algn="l" defTabSz="514337" rtl="0" eaLnBrk="1" latinLnBrk="0" hangingPunct="1">
        <a:defRPr sz="101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nl-NL"/>
              <a:t>TIME _SERIES</a:t>
            </a:r>
          </a:p>
        </p:txBody>
      </p:sp>
    </p:spTree>
    <p:extLst>
      <p:ext uri="{BB962C8B-B14F-4D97-AF65-F5344CB8AC3E}">
        <p14:creationId xmlns:p14="http://schemas.microsoft.com/office/powerpoint/2010/main" val="214871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8634"/>
    </mc:Choice>
    <mc:Fallback xmlns="">
      <p:transition spd="slow" advTm="86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Lecture</a:t>
            </a:r>
            <a:r>
              <a:rPr lang="nl-NL" dirty="0"/>
              <a:t> </a:t>
            </a:r>
            <a:r>
              <a:rPr lang="nl-NL" dirty="0" err="1"/>
              <a:t>overview</a:t>
            </a:r>
            <a:endParaRPr lang="nl-NL" dirty="0"/>
          </a:p>
        </p:txBody>
      </p:sp>
      <p:sp>
        <p:nvSpPr>
          <p:cNvPr id="5" name="Tijdelijke aanduiding voor inhoud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Lesson</a:t>
            </a:r>
            <a:r>
              <a:rPr lang="nl-NL" b="1" dirty="0"/>
              <a:t> goals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Preparation</a:t>
            </a:r>
            <a:r>
              <a:rPr lang="nl-NL" b="1" dirty="0"/>
              <a:t> </a:t>
            </a:r>
            <a:r>
              <a:rPr lang="nl-NL" b="1" dirty="0" err="1"/>
              <a:t>recap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Time series </a:t>
            </a:r>
            <a:r>
              <a:rPr lang="nl-NL" b="1" dirty="0" err="1"/>
              <a:t>overview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Naive</a:t>
            </a:r>
            <a:r>
              <a:rPr lang="nl-NL" b="1" dirty="0"/>
              <a:t> </a:t>
            </a:r>
            <a:r>
              <a:rPr lang="nl-NL" b="1" dirty="0" err="1"/>
              <a:t>forecasting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ARMA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Seasonality</a:t>
            </a:r>
            <a:r>
              <a:rPr lang="nl-NL" b="1" dirty="0"/>
              <a:t> </a:t>
            </a:r>
            <a:r>
              <a:rPr lang="nl-NL" b="1" dirty="0" err="1"/>
              <a:t>and</a:t>
            </a:r>
            <a:r>
              <a:rPr lang="nl-NL" b="1" dirty="0"/>
              <a:t> </a:t>
            </a:r>
            <a:r>
              <a:rPr lang="nl-NL" b="1" dirty="0" err="1"/>
              <a:t>differencing</a:t>
            </a: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Measuring</a:t>
            </a:r>
            <a:r>
              <a:rPr lang="nl-NL" b="1" dirty="0"/>
              <a:t> performance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Using </a:t>
            </a:r>
            <a:r>
              <a:rPr lang="nl-NL" b="1" dirty="0" err="1"/>
              <a:t>statsmodels</a:t>
            </a:r>
            <a:r>
              <a:rPr lang="nl-NL" b="1" dirty="0"/>
              <a:t> </a:t>
            </a:r>
            <a:r>
              <a:rPr lang="nl-NL" b="1" dirty="0" err="1"/>
              <a:t>to</a:t>
            </a:r>
            <a:r>
              <a:rPr lang="nl-NL" b="1" dirty="0"/>
              <a:t> analyse time series data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/>
              <a:t>Filtering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nl-NL" b="1" dirty="0" err="1"/>
              <a:t>Fourier</a:t>
            </a:r>
            <a:r>
              <a:rPr lang="nl-NL" b="1" dirty="0"/>
              <a:t> analysis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b="1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dirty="0"/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401689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519"/>
    </mc:Choice>
    <mc:Fallback xmlns="">
      <p:transition spd="slow" advTm="4519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23703CFC-7951-3882-603C-BE0F1CB9BE3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/>
              <a:t>The student </a:t>
            </a:r>
            <a:r>
              <a:rPr lang="nl-NL" err="1"/>
              <a:t>recognizes</a:t>
            </a:r>
            <a:r>
              <a:rPr lang="nl-NL"/>
              <a:t> time series data as a </a:t>
            </a:r>
            <a:r>
              <a:rPr lang="nl-NL" err="1"/>
              <a:t>distinct</a:t>
            </a:r>
            <a:r>
              <a:rPr lang="nl-NL"/>
              <a:t> type of data </a:t>
            </a:r>
            <a:r>
              <a:rPr lang="nl-NL" err="1"/>
              <a:t>and</a:t>
            </a:r>
            <a:r>
              <a:rPr lang="nl-NL"/>
              <a:t> </a:t>
            </a:r>
            <a:r>
              <a:rPr lang="nl-NL" err="1"/>
              <a:t>knows</a:t>
            </a:r>
            <a:r>
              <a:rPr lang="nl-NL"/>
              <a:t> </a:t>
            </a:r>
            <a:r>
              <a:rPr lang="nl-NL" err="1"/>
              <a:t>the</a:t>
            </a:r>
            <a:r>
              <a:rPr lang="nl-NL"/>
              <a:t> </a:t>
            </a:r>
            <a:r>
              <a:rPr lang="nl-NL" err="1"/>
              <a:t>techniques</a:t>
            </a:r>
            <a:r>
              <a:rPr lang="nl-NL"/>
              <a:t> </a:t>
            </a:r>
            <a:r>
              <a:rPr lang="nl-NL" err="1"/>
              <a:t>for</a:t>
            </a:r>
            <a:r>
              <a:rPr lang="nl-NL"/>
              <a:t> making </a:t>
            </a:r>
            <a:r>
              <a:rPr lang="nl-NL" err="1"/>
              <a:t>predictions</a:t>
            </a:r>
            <a:r>
              <a:rPr lang="nl-NL"/>
              <a:t> </a:t>
            </a:r>
            <a:r>
              <a:rPr lang="nl-NL" err="1"/>
              <a:t>using</a:t>
            </a:r>
            <a:r>
              <a:rPr lang="nl-NL"/>
              <a:t> </a:t>
            </a:r>
            <a:r>
              <a:rPr lang="nl-NL" err="1"/>
              <a:t>this</a:t>
            </a:r>
            <a:r>
              <a:rPr lang="nl-NL"/>
              <a:t> type of data.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err="1"/>
              <a:t>Relates</a:t>
            </a:r>
            <a:r>
              <a:rPr lang="nl-NL"/>
              <a:t>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final</a:t>
            </a:r>
            <a:r>
              <a:rPr lang="nl-NL"/>
              <a:t> </a:t>
            </a:r>
            <a:r>
              <a:rPr lang="nl-NL" err="1"/>
              <a:t>qualification</a:t>
            </a:r>
            <a:r>
              <a:rPr lang="nl-NL"/>
              <a:t>: data </a:t>
            </a:r>
            <a:r>
              <a:rPr lang="nl-NL" err="1"/>
              <a:t>analytics</a:t>
            </a:r>
            <a:endParaRPr lang="nl-NL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838EFDC6-E6C4-AF55-4506-E3ED244AC5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/>
              <a:t>Lesson</a:t>
            </a:r>
            <a:r>
              <a:rPr lang="nl-NL"/>
              <a:t> goals</a:t>
            </a:r>
          </a:p>
        </p:txBody>
      </p:sp>
    </p:spTree>
    <p:extLst>
      <p:ext uri="{BB962C8B-B14F-4D97-AF65-F5344CB8AC3E}">
        <p14:creationId xmlns:p14="http://schemas.microsoft.com/office/powerpoint/2010/main" val="38287299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6C948A0A-FFD8-420B-DDB5-8835A39BA52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/>
              <a:t>Read Géron </a:t>
            </a:r>
            <a:r>
              <a:rPr lang="nl-NL" err="1"/>
              <a:t>ch</a:t>
            </a:r>
            <a:r>
              <a:rPr lang="nl-NL"/>
              <a:t>. 15 </a:t>
            </a:r>
            <a:r>
              <a:rPr lang="nl-NL" err="1"/>
              <a:t>from</a:t>
            </a:r>
            <a:r>
              <a:rPr lang="nl-NL"/>
              <a:t> "</a:t>
            </a:r>
            <a:r>
              <a:rPr lang="nl-NL" err="1"/>
              <a:t>Forecasting</a:t>
            </a:r>
            <a:r>
              <a:rPr lang="nl-NL"/>
              <a:t> a time series" </a:t>
            </a:r>
            <a:r>
              <a:rPr lang="nl-NL" err="1"/>
              <a:t>until</a:t>
            </a:r>
            <a:r>
              <a:rPr lang="nl-NL"/>
              <a:t> but </a:t>
            </a:r>
            <a:r>
              <a:rPr lang="nl-NL" err="1"/>
              <a:t>not</a:t>
            </a:r>
            <a:r>
              <a:rPr lang="nl-NL"/>
              <a:t> </a:t>
            </a:r>
            <a:r>
              <a:rPr lang="nl-NL" err="1"/>
              <a:t>including</a:t>
            </a:r>
            <a:r>
              <a:rPr lang="nl-NL"/>
              <a:t> "Preparing </a:t>
            </a:r>
            <a:r>
              <a:rPr lang="nl-NL" err="1"/>
              <a:t>the</a:t>
            </a:r>
            <a:r>
              <a:rPr lang="nl-NL"/>
              <a:t> Data </a:t>
            </a:r>
            <a:r>
              <a:rPr lang="nl-NL" err="1"/>
              <a:t>for</a:t>
            </a:r>
            <a:r>
              <a:rPr lang="nl-NL"/>
              <a:t> Machine Learning </a:t>
            </a:r>
            <a:r>
              <a:rPr lang="nl-NL" err="1"/>
              <a:t>Models</a:t>
            </a:r>
            <a:r>
              <a:rPr lang="nl-NL"/>
              <a:t>".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err="1"/>
              <a:t>What</a:t>
            </a:r>
            <a:r>
              <a:rPr lang="nl-NL"/>
              <a:t> </a:t>
            </a:r>
            <a:r>
              <a:rPr lang="nl-NL" err="1"/>
              <a:t>did</a:t>
            </a:r>
            <a:r>
              <a:rPr lang="nl-NL"/>
              <a:t> </a:t>
            </a:r>
            <a:r>
              <a:rPr lang="nl-NL" err="1"/>
              <a:t>you</a:t>
            </a:r>
            <a:r>
              <a:rPr lang="nl-NL"/>
              <a:t> </a:t>
            </a:r>
            <a:r>
              <a:rPr lang="nl-NL" err="1"/>
              <a:t>learn</a:t>
            </a:r>
            <a:r>
              <a:rPr lang="nl-NL"/>
              <a:t> </a:t>
            </a:r>
            <a:r>
              <a:rPr lang="nl-NL" err="1"/>
              <a:t>from</a:t>
            </a:r>
            <a:r>
              <a:rPr lang="nl-NL"/>
              <a:t> </a:t>
            </a:r>
            <a:r>
              <a:rPr lang="nl-NL" err="1"/>
              <a:t>this</a:t>
            </a:r>
            <a:r>
              <a:rPr lang="nl-NL"/>
              <a:t>?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D74DB50-198A-9E93-4FA7-BDEC09F5AB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Preparation</a:t>
            </a:r>
            <a:r>
              <a:rPr lang="nl-NL" dirty="0"/>
              <a:t> </a:t>
            </a:r>
            <a:r>
              <a:rPr lang="nl-NL" dirty="0" err="1"/>
              <a:t>recap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1236166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1D0C676-ED67-FDE3-9ED6-048E471BD9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A time series is a </a:t>
            </a:r>
            <a:r>
              <a:rPr lang="nl-NL" dirty="0" err="1"/>
              <a:t>sequence</a:t>
            </a:r>
            <a:r>
              <a:rPr lang="nl-NL" dirty="0"/>
              <a:t> of </a:t>
            </a:r>
            <a:r>
              <a:rPr lang="nl-NL" dirty="0" err="1"/>
              <a:t>observations</a:t>
            </a:r>
            <a:r>
              <a:rPr lang="nl-NL" dirty="0"/>
              <a:t> of </a:t>
            </a:r>
            <a:r>
              <a:rPr lang="nl-NL" dirty="0" err="1"/>
              <a:t>one</a:t>
            </a:r>
            <a:r>
              <a:rPr lang="nl-NL" dirty="0"/>
              <a:t> or more variables. These </a:t>
            </a:r>
            <a:r>
              <a:rPr lang="nl-NL" dirty="0" err="1"/>
              <a:t>observations</a:t>
            </a:r>
            <a:r>
              <a:rPr lang="nl-NL" dirty="0"/>
              <a:t> </a:t>
            </a:r>
            <a:r>
              <a:rPr lang="nl-NL" dirty="0" err="1"/>
              <a:t>occur</a:t>
            </a:r>
            <a:r>
              <a:rPr lang="nl-NL" dirty="0"/>
              <a:t> in </a:t>
            </a:r>
            <a:r>
              <a:rPr lang="nl-NL" dirty="0" err="1"/>
              <a:t>successive</a:t>
            </a:r>
            <a:r>
              <a:rPr lang="nl-NL" dirty="0"/>
              <a:t> order over </a:t>
            </a:r>
            <a:r>
              <a:rPr lang="nl-NL" dirty="0" err="1"/>
              <a:t>some</a:t>
            </a:r>
            <a:r>
              <a:rPr lang="nl-NL" dirty="0"/>
              <a:t> </a:t>
            </a:r>
            <a:r>
              <a:rPr lang="nl-NL" dirty="0" err="1"/>
              <a:t>period</a:t>
            </a:r>
            <a:r>
              <a:rPr lang="nl-NL" dirty="0"/>
              <a:t> of time, </a:t>
            </a:r>
            <a:r>
              <a:rPr lang="nl-NL" dirty="0" err="1"/>
              <a:t>usually</a:t>
            </a:r>
            <a:r>
              <a:rPr lang="nl-NL" dirty="0"/>
              <a:t> (but </a:t>
            </a:r>
            <a:r>
              <a:rPr lang="nl-NL" dirty="0" err="1"/>
              <a:t>occasionally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) at </a:t>
            </a:r>
            <a:r>
              <a:rPr lang="nl-NL" dirty="0" err="1"/>
              <a:t>regular</a:t>
            </a:r>
            <a:r>
              <a:rPr lang="nl-NL" dirty="0"/>
              <a:t> </a:t>
            </a:r>
            <a:r>
              <a:rPr lang="nl-NL" dirty="0" err="1"/>
              <a:t>intervals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In </a:t>
            </a:r>
            <a:r>
              <a:rPr lang="nl-NL" dirty="0" err="1"/>
              <a:t>many</a:t>
            </a:r>
            <a:r>
              <a:rPr lang="nl-NL" dirty="0"/>
              <a:t> time series </a:t>
            </a:r>
            <a:r>
              <a:rPr lang="nl-NL" dirty="0" err="1"/>
              <a:t>observations</a:t>
            </a:r>
            <a:r>
              <a:rPr lang="nl-NL" dirty="0"/>
              <a:t> are </a:t>
            </a:r>
            <a:r>
              <a:rPr lang="nl-NL" dirty="0" err="1"/>
              <a:t>closely</a:t>
            </a:r>
            <a:r>
              <a:rPr lang="nl-NL" dirty="0"/>
              <a:t> </a:t>
            </a:r>
            <a:r>
              <a:rPr lang="nl-NL" dirty="0" err="1"/>
              <a:t>related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each</a:t>
            </a:r>
            <a:r>
              <a:rPr lang="nl-NL" dirty="0"/>
              <a:t> </a:t>
            </a:r>
            <a:r>
              <a:rPr lang="nl-NL" dirty="0" err="1"/>
              <a:t>other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This</a:t>
            </a:r>
            <a:r>
              <a:rPr lang="nl-NL" dirty="0"/>
              <a:t> means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observation</a:t>
            </a:r>
            <a:r>
              <a:rPr lang="nl-NL" dirty="0"/>
              <a:t> made at </a:t>
            </a:r>
            <a:r>
              <a:rPr lang="nl-NL" dirty="0" err="1"/>
              <a:t>some</a:t>
            </a:r>
            <a:r>
              <a:rPr lang="nl-NL" dirty="0"/>
              <a:t> point in </a:t>
            </a:r>
            <a:r>
              <a:rPr lang="nl-NL" dirty="0" err="1"/>
              <a:t>the</a:t>
            </a:r>
            <a:r>
              <a:rPr lang="nl-NL" dirty="0"/>
              <a:t> past </a:t>
            </a:r>
            <a:r>
              <a:rPr lang="nl-NL" dirty="0" err="1"/>
              <a:t>can</a:t>
            </a:r>
            <a:r>
              <a:rPr lang="nl-NL" dirty="0"/>
              <a:t> help </a:t>
            </a:r>
            <a:r>
              <a:rPr lang="nl-NL" dirty="0" err="1"/>
              <a:t>predict</a:t>
            </a:r>
            <a:r>
              <a:rPr lang="nl-NL" dirty="0"/>
              <a:t>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observation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 is made at </a:t>
            </a:r>
            <a:r>
              <a:rPr lang="nl-NL" dirty="0" err="1"/>
              <a:t>some</a:t>
            </a:r>
            <a:r>
              <a:rPr lang="nl-NL" dirty="0"/>
              <a:t> later point in time: forecasting.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The default </a:t>
            </a:r>
            <a:r>
              <a:rPr lang="nl-NL" dirty="0" err="1"/>
              <a:t>forecasting</a:t>
            </a:r>
            <a:r>
              <a:rPr lang="nl-NL" dirty="0"/>
              <a:t> </a:t>
            </a:r>
            <a:r>
              <a:rPr lang="nl-NL" dirty="0" err="1"/>
              <a:t>technique</a:t>
            </a:r>
            <a:r>
              <a:rPr lang="nl-NL" dirty="0"/>
              <a:t> is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simply</a:t>
            </a:r>
            <a:r>
              <a:rPr lang="nl-NL" dirty="0"/>
              <a:t> state </a:t>
            </a:r>
            <a:r>
              <a:rPr lang="nl-NL" dirty="0" err="1"/>
              <a:t>that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next </a:t>
            </a:r>
            <a:r>
              <a:rPr lang="nl-NL" dirty="0" err="1"/>
              <a:t>observation</a:t>
            </a:r>
            <a:r>
              <a:rPr lang="nl-NL" dirty="0"/>
              <a:t>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identical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last </a:t>
            </a:r>
            <a:r>
              <a:rPr lang="nl-NL" dirty="0" err="1"/>
              <a:t>observation</a:t>
            </a:r>
            <a:r>
              <a:rPr lang="nl-NL" dirty="0"/>
              <a:t>.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works</a:t>
            </a:r>
            <a:r>
              <a:rPr lang="nl-NL" dirty="0"/>
              <a:t> </a:t>
            </a:r>
            <a:r>
              <a:rPr lang="nl-NL" dirty="0" err="1"/>
              <a:t>surprisingly</a:t>
            </a:r>
            <a:r>
              <a:rPr lang="nl-NL" dirty="0"/>
              <a:t> well. Later on </a:t>
            </a:r>
            <a:r>
              <a:rPr lang="nl-NL" dirty="0" err="1"/>
              <a:t>during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lesson</a:t>
            </a:r>
            <a:r>
              <a:rPr lang="nl-NL" dirty="0"/>
              <a:t> we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learn</a:t>
            </a:r>
            <a:r>
              <a:rPr lang="nl-NL" dirty="0"/>
              <a:t>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do </a:t>
            </a:r>
            <a:r>
              <a:rPr lang="nl-NL" dirty="0" err="1"/>
              <a:t>when</a:t>
            </a:r>
            <a:r>
              <a:rPr lang="nl-NL" dirty="0"/>
              <a:t> </a:t>
            </a:r>
            <a:r>
              <a:rPr lang="nl-NL" dirty="0" err="1"/>
              <a:t>it</a:t>
            </a:r>
            <a:r>
              <a:rPr lang="nl-NL" dirty="0"/>
              <a:t> </a:t>
            </a:r>
            <a:r>
              <a:rPr lang="nl-NL" dirty="0" err="1"/>
              <a:t>doesn't</a:t>
            </a:r>
            <a:r>
              <a:rPr lang="nl-NL" dirty="0"/>
              <a:t>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A04534AA-3BBF-D700-F67F-C07A09096C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Time Series </a:t>
            </a:r>
            <a:r>
              <a:rPr lang="nl-NL" dirty="0" err="1"/>
              <a:t>Overview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807672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BE467AF0-81CB-3DED-4535-0E8ED2D8E1A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1: naive forecast with example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609DF7BF-8E95-BFA8-4C15-92FB3E3080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1: Naive forecast with example</a:t>
            </a:r>
          </a:p>
        </p:txBody>
      </p:sp>
    </p:spTree>
    <p:extLst>
      <p:ext uri="{BB962C8B-B14F-4D97-AF65-F5344CB8AC3E}">
        <p14:creationId xmlns:p14="http://schemas.microsoft.com/office/powerpoint/2010/main" val="8706935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E472D597-E10A-D2B2-53C5-380B29329DD3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Apply some function to all previous observations or to a subset of previous observations (only the last 10 observations, for example):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, …, </m:t>
                        </m:r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</m:e>
                    </m:d>
                    <m:r>
                      <a:rPr lang="nl-NL" b="0" i="1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endParaRPr lang="en-US" dirty="0"/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en-US" dirty="0"/>
                  <a:t> : some error</a:t>
                </a:r>
              </a:p>
              <a:p>
                <a:pPr marL="728653" lvl="1" indent="-342900"/>
                <a:r>
                  <a:rPr lang="en-US" dirty="0"/>
                  <a:t>The forecast value 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sSub>
                          <m:sSub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sub>
                        </m:sSub>
                      </m:e>
                    </m:acc>
                    <m:r>
                      <a:rPr lang="nl-NL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nl-NL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nl-NL" i="1">
                            <a:latin typeface="Cambria Math" panose="02040503050406030204" pitchFamily="18" charset="0"/>
                          </a:rPr>
                          <m:t>, …,</m:t>
                        </m:r>
                        <m:r>
                          <a:rPr lang="nl-NL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nl-NL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nl-NL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This technique is called </a:t>
                </a:r>
                <a:r>
                  <a:rPr lang="en-US" b="1" dirty="0"/>
                  <a:t>ARMA</a:t>
                </a:r>
                <a:r>
                  <a:rPr lang="en-US" dirty="0"/>
                  <a:t>: </a:t>
                </a:r>
                <a:r>
                  <a:rPr lang="en-US" b="1" dirty="0"/>
                  <a:t>a</a:t>
                </a:r>
                <a:r>
                  <a:rPr lang="en-US" dirty="0"/>
                  <a:t>uto </a:t>
                </a:r>
                <a:r>
                  <a:rPr lang="en-US" b="1" dirty="0"/>
                  <a:t>r</a:t>
                </a:r>
                <a:r>
                  <a:rPr lang="en-US" dirty="0"/>
                  <a:t>egressive </a:t>
                </a:r>
                <a:r>
                  <a:rPr lang="en-US" b="1" dirty="0"/>
                  <a:t>m</a:t>
                </a:r>
                <a:r>
                  <a:rPr lang="en-US" dirty="0"/>
                  <a:t>oving </a:t>
                </a:r>
                <a:r>
                  <a:rPr lang="en-US" b="1" dirty="0"/>
                  <a:t>a</a:t>
                </a:r>
                <a:r>
                  <a:rPr lang="en-US" dirty="0"/>
                  <a:t>verage:</a:t>
                </a:r>
              </a:p>
              <a:p>
                <a:pPr marL="728653" lvl="1" indent="-342900"/>
                <a:r>
                  <a:rPr lang="en-US" dirty="0"/>
                  <a:t>AR: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r>
                  <a:rPr lang="nl-NL" dirty="0"/>
                  <a:t>MA: </a:t>
                </a:r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r>
                  <a:rPr lang="nl-NL" dirty="0"/>
                  <a:t>ARMA combines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two</a:t>
                </a:r>
                <a:r>
                  <a:rPr lang="nl-NL" dirty="0"/>
                  <a:t>, </a:t>
                </a:r>
                <a:r>
                  <a:rPr lang="nl-NL" dirty="0" err="1"/>
                  <a:t>by</a:t>
                </a:r>
                <a:r>
                  <a:rPr lang="nl-NL" dirty="0"/>
                  <a:t> </a:t>
                </a:r>
                <a:r>
                  <a:rPr lang="nl-NL" dirty="0" err="1"/>
                  <a:t>summing</a:t>
                </a:r>
                <a:r>
                  <a:rPr lang="nl-NL" dirty="0"/>
                  <a:t> </a:t>
                </a:r>
                <a:r>
                  <a:rPr lang="nl-NL" dirty="0" err="1"/>
                  <a:t>them</a:t>
                </a:r>
                <a:r>
                  <a:rPr lang="nl-NL" dirty="0"/>
                  <a:t>: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𝑌𝑡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−1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−2</m:t>
                        </m:r>
                      </m:sub>
                    </m:sSub>
                    <m:r>
                      <a:rPr lang="nl-NL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nl-NL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nl-NL" i="1">
                        <a:latin typeface="Cambria Math" panose="02040503050406030204" pitchFamily="18" charset="0"/>
                      </a:rPr>
                      <m:t> 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 −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lang="nl-NL" dirty="0"/>
                  <a:t> </a:t>
                </a:r>
                <a14:m>
                  <m:oMath xmlns:m="http://schemas.openxmlformats.org/officeDocument/2006/math">
                    <m:r>
                      <a:rPr lang="nl-NL" i="1">
                        <a:latin typeface="Cambria Math" panose="02040503050406030204" pitchFamily="18" charset="0"/>
                      </a:rPr>
                      <m:t>…+</m:t>
                    </m:r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𝛼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b>
                      <m:sSubPr>
                        <m:ctrlPr>
                          <a:rPr lang="nl-NL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nl-NL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𝜖</m:t>
                        </m:r>
                      </m:e>
                      <m:sub>
                        <m:r>
                          <a:rPr lang="nl-NL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endParaRPr lang="nl-NL" dirty="0"/>
              </a:p>
              <a:p>
                <a:pPr marL="728653" lvl="1" indent="-342900"/>
                <a:endParaRPr lang="nl-NL" dirty="0"/>
              </a:p>
              <a:p>
                <a:pPr marL="728653" lvl="1" indent="-342900"/>
                <a:endParaRPr lang="nl-NL" dirty="0"/>
              </a:p>
              <a:p>
                <a:pPr marL="728653" lvl="1" indent="-342900"/>
                <a:endParaRPr lang="nl-NL" dirty="0"/>
              </a:p>
            </p:txBody>
          </p:sp>
        </mc:Choice>
        <mc:Fallback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E472D597-E10A-D2B2-53C5-380B29329DD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43" t="-2077" r="-11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52C8E15F-840C-90E8-D40B-1DD31EF5B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Slightly less naive forecasting: ARMA</a:t>
            </a:r>
          </a:p>
        </p:txBody>
      </p:sp>
    </p:spTree>
    <p:extLst>
      <p:ext uri="{BB962C8B-B14F-4D97-AF65-F5344CB8AC3E}">
        <p14:creationId xmlns:p14="http://schemas.microsoft.com/office/powerpoint/2010/main" val="9481818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CD59485A-5579-EA5F-8EA8-BB1FA35102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2: manual ARMA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Demo 3: manual ARMA, does not work</a:t>
            </a:r>
          </a:p>
          <a:p>
            <a:pPr marL="728653" lvl="1" indent="-342900"/>
            <a:r>
              <a:rPr lang="en-US" dirty="0"/>
              <a:t>Because ARMA assumes the time series is </a:t>
            </a:r>
            <a:r>
              <a:rPr lang="en-US" i="1" dirty="0"/>
              <a:t>stationary</a:t>
            </a:r>
            <a:r>
              <a:rPr lang="en-US" dirty="0"/>
              <a:t> (no </a:t>
            </a:r>
            <a:r>
              <a:rPr lang="en-US" i="1" dirty="0"/>
              <a:t>seasonality)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8AA1C9A-B63B-2EAE-D17F-C549D8C8E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2 and 3</a:t>
            </a:r>
          </a:p>
        </p:txBody>
      </p:sp>
    </p:spTree>
    <p:extLst>
      <p:ext uri="{BB962C8B-B14F-4D97-AF65-F5344CB8AC3E}">
        <p14:creationId xmlns:p14="http://schemas.microsoft.com/office/powerpoint/2010/main" val="5460654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F5D0A65A-FA49-DC91-0A51-B7FBFBE90CF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Differencing does not completely undo the effects of seasonality, but it does reduce its effects.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Differencing can also help remove underlying larger trends. In economics, for example, long term trends (continuous growth) are often less interesting than smaller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Better results can be sometimes be obtained by using a technique called Fourier analysis, but we will only touch upon this technique very briefly, at the end of this lecture.</a:t>
            </a:r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46ABC05-566B-EAA0-97CD-4D5C21081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4: reducing seasonality using differencing</a:t>
            </a:r>
          </a:p>
        </p:txBody>
      </p:sp>
    </p:spTree>
    <p:extLst>
      <p:ext uri="{BB962C8B-B14F-4D97-AF65-F5344CB8AC3E}">
        <p14:creationId xmlns:p14="http://schemas.microsoft.com/office/powerpoint/2010/main" val="4945485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3CA1FE04-A1B1-43F8-93F4-B4838E3EBB9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It is possible to combine differencing and ARMA to make predictions: </a:t>
            </a:r>
            <a:r>
              <a:rPr lang="en-US" b="1" dirty="0"/>
              <a:t>ARIMA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If you need to add seasonality: </a:t>
            </a:r>
            <a:r>
              <a:rPr lang="en-US" b="1" dirty="0"/>
              <a:t>SARIMA</a:t>
            </a:r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9F84C12-7C77-5A75-6852-936FA286C0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ARIMA and SARIMA</a:t>
            </a:r>
          </a:p>
        </p:txBody>
      </p:sp>
    </p:spTree>
    <p:extLst>
      <p:ext uri="{BB962C8B-B14F-4D97-AF65-F5344CB8AC3E}">
        <p14:creationId xmlns:p14="http://schemas.microsoft.com/office/powerpoint/2010/main" val="1872570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4B51073C-5BC3-C82F-A474-F23B9B3A9585}"/>
                  </a:ext>
                </a:extLst>
              </p:cNvPr>
              <p:cNvSpPr>
                <a:spLocks noGrp="1"/>
              </p:cNvSpPr>
              <p:nvPr>
                <p:ph type="body" sz="quarter" idx="10"/>
              </p:nvPr>
            </p:nvSpPr>
            <p:spPr/>
            <p:txBody>
              <a:bodyPr/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MAE</a:t>
                </a:r>
                <a:r>
                  <a:rPr lang="en-US" dirty="0"/>
                  <a:t> (Mean Absolute Error): the mean of the absolute difference between predicted values and actual values:</a:t>
                </a:r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𝑀𝐴𝐸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nl-NL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p>
                          <m:sSup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dirty="0"/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/>
                  <a:t>MAPE</a:t>
                </a:r>
                <a:r>
                  <a:rPr lang="en-US" dirty="0"/>
                  <a:t> (Mean Absolute Percentage Error): the mean of the </a:t>
                </a:r>
                <a:r>
                  <a:rPr lang="en-US" i="1" dirty="0"/>
                  <a:t>relative</a:t>
                </a:r>
                <a:r>
                  <a:rPr lang="en-US" dirty="0"/>
                  <a:t> differences (</a:t>
                </a:r>
                <a:r>
                  <a:rPr lang="en-US" dirty="0" err="1"/>
                  <a:t>ie</a:t>
                </a:r>
                <a:r>
                  <a:rPr lang="en-US" dirty="0"/>
                  <a:t> as a percentage) between the real values and the predicted values:</a:t>
                </a:r>
              </a:p>
              <a:p>
                <a:pPr marL="728653" lvl="1" indent="-342900"/>
                <a14:m>
                  <m:oMath xmlns:m="http://schemas.openxmlformats.org/officeDocument/2006/math">
                    <m:r>
                      <a:rPr lang="nl-NL" b="0" i="1" smtClean="0">
                        <a:latin typeface="Cambria Math" panose="02040503050406030204" pitchFamily="18" charset="0"/>
                      </a:rPr>
                      <m:t>𝑀𝐴𝑃𝐸</m:t>
                    </m:r>
                    <m:r>
                      <a:rPr lang="nl-NL" b="0" i="1" smtClean="0">
                        <a:latin typeface="Cambria Math" panose="02040503050406030204" pitchFamily="18" charset="0"/>
                      </a:rPr>
                      <m:t>= </m:t>
                    </m:r>
                    <m:f>
                      <m:fPr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nl-NL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nl-NL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nl-NL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p>
                              <m:sSupPr>
                                <m:ctrlP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p>
                                <m:r>
                                  <a:rPr lang="nl-NL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</m:num>
                          <m:den>
                            <m:r>
                              <a:rPr lang="nl-NL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den>
                        </m:f>
                      </m:e>
                    </m:nary>
                    <m:r>
                      <a:rPr lang="nl-NL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×100%</m:t>
                    </m:r>
                  </m:oMath>
                </a14:m>
                <a:endParaRPr lang="en-US" dirty="0"/>
              </a:p>
              <a:p>
                <a:pPr marL="728653" lvl="1" indent="-342900"/>
                <a:r>
                  <a:rPr lang="en-US" dirty="0"/>
                  <a:t>Note: you divide by the original value so there can not be any 0 values.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Occasionally </a:t>
                </a:r>
                <a:r>
                  <a:rPr lang="en-US" b="1" dirty="0"/>
                  <a:t>MSE</a:t>
                </a:r>
                <a:r>
                  <a:rPr lang="en-US" dirty="0"/>
                  <a:t> is used, </a:t>
                </a:r>
                <a:r>
                  <a:rPr lang="nl-NL" dirty="0" err="1"/>
                  <a:t>if</a:t>
                </a:r>
                <a:r>
                  <a:rPr lang="nl-NL" dirty="0"/>
                  <a:t> </a:t>
                </a:r>
                <a:r>
                  <a:rPr lang="nl-NL" dirty="0" err="1"/>
                  <a:t>some</a:t>
                </a:r>
                <a:r>
                  <a:rPr lang="nl-NL" dirty="0"/>
                  <a:t> of </a:t>
                </a:r>
                <a:r>
                  <a:rPr lang="nl-NL" dirty="0" err="1"/>
                  <a:t>the</a:t>
                </a:r>
                <a:r>
                  <a:rPr lang="nl-NL" dirty="0"/>
                  <a:t> </a:t>
                </a:r>
                <a:r>
                  <a:rPr lang="nl-NL" dirty="0" err="1"/>
                  <a:t>predictions</a:t>
                </a:r>
                <a:r>
                  <a:rPr lang="nl-NL" dirty="0"/>
                  <a:t> are </a:t>
                </a:r>
                <a:r>
                  <a:rPr lang="nl-NL" dirty="0" err="1"/>
                  <a:t>very</a:t>
                </a:r>
                <a:r>
                  <a:rPr lang="nl-NL" dirty="0"/>
                  <a:t> far off </a:t>
                </a:r>
                <a:r>
                  <a:rPr lang="nl-NL" dirty="0" err="1"/>
                  <a:t>and</a:t>
                </a:r>
                <a:r>
                  <a:rPr lang="nl-NL" dirty="0"/>
                  <a:t> </a:t>
                </a:r>
                <a:r>
                  <a:rPr lang="nl-NL" dirty="0" err="1"/>
                  <a:t>you</a:t>
                </a:r>
                <a:r>
                  <a:rPr lang="nl-NL" dirty="0"/>
                  <a:t> want </a:t>
                </a:r>
                <a:r>
                  <a:rPr lang="nl-NL" dirty="0" err="1"/>
                  <a:t>to</a:t>
                </a:r>
                <a:r>
                  <a:rPr lang="nl-NL" dirty="0"/>
                  <a:t> </a:t>
                </a:r>
                <a:r>
                  <a:rPr lang="nl-NL" dirty="0" err="1"/>
                  <a:t>penalize</a:t>
                </a:r>
                <a:r>
                  <a:rPr lang="nl-NL" dirty="0"/>
                  <a:t> these </a:t>
                </a:r>
                <a:r>
                  <a:rPr lang="nl-NL" dirty="0" err="1"/>
                  <a:t>stronger</a:t>
                </a:r>
                <a:r>
                  <a:rPr lang="nl-NL" dirty="0"/>
                  <a:t> </a:t>
                </a:r>
                <a:r>
                  <a:rPr lang="nl-NL" dirty="0" err="1"/>
                  <a:t>than</a:t>
                </a:r>
                <a:r>
                  <a:rPr lang="nl-NL" dirty="0"/>
                  <a:t> </a:t>
                </a:r>
                <a:r>
                  <a:rPr lang="nl-NL" dirty="0" err="1"/>
                  <a:t>other</a:t>
                </a:r>
                <a:r>
                  <a:rPr lang="nl-NL" dirty="0"/>
                  <a:t> </a:t>
                </a:r>
                <a:r>
                  <a:rPr lang="nl-NL" dirty="0" err="1"/>
                  <a:t>predictions</a:t>
                </a:r>
                <a:r>
                  <a:rPr lang="nl-NL" dirty="0"/>
                  <a:t>.</a:t>
                </a:r>
                <a:endParaRPr lang="en-US" dirty="0"/>
              </a:p>
            </p:txBody>
          </p:sp>
        </mc:Choice>
        <mc:Fallback>
          <p:sp>
            <p:nvSpPr>
              <p:cNvPr id="2" name="Tijdelijke aanduiding voor tekst 1">
                <a:extLst>
                  <a:ext uri="{FF2B5EF4-FFF2-40B4-BE49-F238E27FC236}">
                    <a16:creationId xmlns:a16="http://schemas.microsoft.com/office/drawing/2014/main" id="{4B51073C-5BC3-C82F-A474-F23B9B3A958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0"/>
              </p:nvPr>
            </p:nvSpPr>
            <p:spPr>
              <a:blipFill>
                <a:blip r:embed="rId2"/>
                <a:stretch>
                  <a:fillRect l="-643" t="-2077" r="-1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itel 2">
            <a:extLst>
              <a:ext uri="{FF2B5EF4-FFF2-40B4-BE49-F238E27FC236}">
                <a16:creationId xmlns:a16="http://schemas.microsoft.com/office/drawing/2014/main" id="{719F0179-3822-721C-2DD0-00EFA1B5A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Measuring the quality of a forecast</a:t>
            </a:r>
          </a:p>
        </p:txBody>
      </p:sp>
    </p:spTree>
    <p:extLst>
      <p:ext uri="{BB962C8B-B14F-4D97-AF65-F5344CB8AC3E}">
        <p14:creationId xmlns:p14="http://schemas.microsoft.com/office/powerpoint/2010/main" val="36045188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4B8AE7F5-00A8-7D6B-A4F6-34291C01FA4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pPr marL="214315" indent="-342900">
              <a:buFont typeface="Arial" panose="020B0604020202020204" pitchFamily="34" charset="0"/>
              <a:buChar char="•"/>
            </a:pPr>
            <a:r>
              <a:rPr lang="nl-NL" dirty="0"/>
              <a:t>Demo 5: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show trends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endParaRPr lang="nl-NL" dirty="0"/>
          </a:p>
          <a:p>
            <a:pPr marL="600068" lvl="1" indent="-342900"/>
            <a:r>
              <a:rPr lang="nl-NL" dirty="0"/>
              <a:t>Auto </a:t>
            </a:r>
            <a:r>
              <a:rPr lang="nl-NL" dirty="0" err="1"/>
              <a:t>correlation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plots help in data </a:t>
            </a:r>
            <a:r>
              <a:rPr lang="nl-NL" dirty="0" err="1"/>
              <a:t>exploration</a:t>
            </a:r>
            <a:r>
              <a:rPr lang="nl-NL" dirty="0"/>
              <a:t>: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show </a:t>
            </a:r>
            <a:r>
              <a:rPr lang="nl-NL" dirty="0" err="1"/>
              <a:t>you</a:t>
            </a:r>
            <a:r>
              <a:rPr lang="nl-NL" dirty="0"/>
              <a:t> trends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help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decide</a:t>
            </a:r>
            <a:r>
              <a:rPr lang="nl-NL" dirty="0"/>
              <a:t> </a:t>
            </a:r>
            <a:r>
              <a:rPr lang="nl-NL" dirty="0" err="1"/>
              <a:t>which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. </a:t>
            </a:r>
            <a:r>
              <a:rPr lang="nl-NL" dirty="0" err="1"/>
              <a:t>If</a:t>
            </a:r>
            <a:r>
              <a:rPr lang="nl-NL" dirty="0"/>
              <a:t> data </a:t>
            </a:r>
            <a:r>
              <a:rPr lang="nl-NL" dirty="0" err="1"/>
              <a:t>contains</a:t>
            </a:r>
            <a:r>
              <a:rPr lang="nl-NL" dirty="0"/>
              <a:t> no </a:t>
            </a:r>
            <a:r>
              <a:rPr lang="nl-NL" dirty="0" err="1"/>
              <a:t>seasonality</a:t>
            </a:r>
            <a:r>
              <a:rPr lang="nl-NL" dirty="0"/>
              <a:t> at </a:t>
            </a:r>
            <a:r>
              <a:rPr lang="nl-NL" dirty="0" err="1"/>
              <a:t>all</a:t>
            </a:r>
            <a:r>
              <a:rPr lang="nl-NL" dirty="0"/>
              <a:t>, ARMA is fine. </a:t>
            </a:r>
            <a:r>
              <a:rPr lang="nl-NL" dirty="0" err="1"/>
              <a:t>Otherwise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need</a:t>
            </a:r>
            <a:r>
              <a:rPr lang="nl-NL" dirty="0"/>
              <a:t> SARIMA or </a:t>
            </a:r>
            <a:r>
              <a:rPr lang="nl-NL" dirty="0" err="1"/>
              <a:t>something</a:t>
            </a:r>
            <a:r>
              <a:rPr lang="nl-NL" dirty="0"/>
              <a:t> </a:t>
            </a:r>
            <a:r>
              <a:rPr lang="nl-NL" dirty="0" err="1"/>
              <a:t>else</a:t>
            </a:r>
            <a:r>
              <a:rPr lang="nl-NL" dirty="0"/>
              <a:t>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help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decide</a:t>
            </a:r>
            <a:r>
              <a:rPr lang="nl-NL" dirty="0"/>
              <a:t> </a:t>
            </a:r>
            <a:r>
              <a:rPr lang="nl-NL" dirty="0" err="1"/>
              <a:t>how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preprocess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marL="857236" lvl="2" indent="-342900"/>
            <a:r>
              <a:rPr lang="nl-NL" dirty="0" err="1"/>
              <a:t>They</a:t>
            </a:r>
            <a:r>
              <a:rPr lang="nl-NL" dirty="0"/>
              <a:t> show </a:t>
            </a:r>
            <a:r>
              <a:rPr lang="nl-NL" dirty="0" err="1"/>
              <a:t>anomalies</a:t>
            </a:r>
            <a:r>
              <a:rPr lang="nl-NL" dirty="0"/>
              <a:t> / </a:t>
            </a:r>
            <a:r>
              <a:rPr lang="nl-NL" dirty="0" err="1"/>
              <a:t>oddities</a:t>
            </a:r>
            <a:r>
              <a:rPr lang="nl-NL" dirty="0"/>
              <a:t>.</a:t>
            </a:r>
          </a:p>
          <a:p>
            <a:pPr marL="214315" indent="-342900">
              <a:buFont typeface="Arial" panose="020B0604020202020204" pitchFamily="34" charset="0"/>
              <a:buChar char="•"/>
            </a:pPr>
            <a:r>
              <a:rPr lang="nl-NL" dirty="0"/>
              <a:t>Demo 6: Using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decompose</a:t>
            </a:r>
            <a:r>
              <a:rPr lang="nl-NL" dirty="0"/>
              <a:t> a time series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7: Using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analyse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decompose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</a:t>
            </a:r>
          </a:p>
          <a:p>
            <a:pPr marL="728653" lvl="1" indent="-342900"/>
            <a:r>
              <a:rPr lang="nl-NL" dirty="0"/>
              <a:t>Trend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seasonality</a:t>
            </a:r>
            <a:r>
              <a:rPr lang="nl-NL" dirty="0"/>
              <a:t> analysis </a:t>
            </a:r>
            <a:r>
              <a:rPr lang="nl-NL" dirty="0" err="1"/>
              <a:t>using</a:t>
            </a:r>
            <a:r>
              <a:rPr lang="nl-NL" dirty="0"/>
              <a:t> </a:t>
            </a:r>
            <a:r>
              <a:rPr lang="nl-NL" dirty="0" err="1"/>
              <a:t>autocorrelation</a:t>
            </a:r>
            <a:r>
              <a:rPr lang="nl-NL" dirty="0"/>
              <a:t> </a:t>
            </a:r>
            <a:r>
              <a:rPr lang="nl-NL" dirty="0" err="1"/>
              <a:t>function</a:t>
            </a:r>
            <a:r>
              <a:rPr lang="nl-NL" dirty="0"/>
              <a:t> plots is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foolproof</a:t>
            </a:r>
            <a:r>
              <a:rPr lang="nl-NL" dirty="0"/>
              <a:t>. </a:t>
            </a:r>
            <a:r>
              <a:rPr lang="nl-NL" dirty="0" err="1"/>
              <a:t>Here</a:t>
            </a:r>
            <a:r>
              <a:rPr lang="nl-NL" dirty="0"/>
              <a:t> is </a:t>
            </a:r>
            <a:r>
              <a:rPr lang="nl-NL" dirty="0" err="1"/>
              <a:t>an</a:t>
            </a:r>
            <a:r>
              <a:rPr lang="nl-NL" dirty="0"/>
              <a:t> </a:t>
            </a:r>
            <a:r>
              <a:rPr lang="nl-NL" dirty="0" err="1"/>
              <a:t>infamous</a:t>
            </a:r>
            <a:r>
              <a:rPr lang="nl-NL" dirty="0"/>
              <a:t> </a:t>
            </a:r>
            <a:r>
              <a:rPr lang="nl-NL" dirty="0" err="1"/>
              <a:t>example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nl-NL" dirty="0"/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26077C87-3356-4DD9-DA46-D3B4407AC1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Demos: </a:t>
            </a:r>
            <a:r>
              <a:rPr lang="en-US" dirty="0" err="1"/>
              <a:t>statsmodels.tsa</a:t>
            </a:r>
            <a:r>
              <a:rPr lang="en-US" dirty="0"/>
              <a:t> and </a:t>
            </a:r>
            <a:r>
              <a:rPr lang="en-US" dirty="0" err="1"/>
              <a:t>statsmodels.graphics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0966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964F1AEF-E8B1-724E-214F-70F68A7F6C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Most of </a:t>
            </a:r>
            <a:r>
              <a:rPr lang="nl-NL" dirty="0" err="1"/>
              <a:t>our</a:t>
            </a:r>
            <a:r>
              <a:rPr lang="nl-NL" dirty="0"/>
              <a:t> data </a:t>
            </a:r>
            <a:r>
              <a:rPr lang="nl-NL" dirty="0" err="1"/>
              <a:t>will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somewhere</a:t>
            </a:r>
            <a:r>
              <a:rPr lang="nl-NL" dirty="0"/>
              <a:t> </a:t>
            </a:r>
            <a:r>
              <a:rPr lang="nl-NL" dirty="0" err="1"/>
              <a:t>between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synthetic</a:t>
            </a:r>
            <a:r>
              <a:rPr lang="nl-NL" dirty="0"/>
              <a:t> data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demos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 in </a:t>
            </a:r>
            <a:r>
              <a:rPr lang="nl-NL" dirty="0" err="1"/>
              <a:t>terms</a:t>
            </a:r>
            <a:r>
              <a:rPr lang="nl-NL" dirty="0"/>
              <a:t> of </a:t>
            </a:r>
            <a:r>
              <a:rPr lang="nl-NL" dirty="0" err="1"/>
              <a:t>complexity</a:t>
            </a:r>
            <a:r>
              <a:rPr lang="nl-NL" dirty="0"/>
              <a:t>. The tools in </a:t>
            </a:r>
            <a:r>
              <a:rPr lang="nl-NL" dirty="0" err="1"/>
              <a:t>statsmodels.tsa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</a:t>
            </a:r>
            <a:r>
              <a:rPr lang="nl-NL" dirty="0" err="1"/>
              <a:t>therefore</a:t>
            </a:r>
            <a:r>
              <a:rPr lang="nl-NL" dirty="0"/>
              <a:t>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well - or at </a:t>
            </a:r>
            <a:r>
              <a:rPr lang="nl-NL" dirty="0" err="1"/>
              <a:t>least</a:t>
            </a:r>
            <a:r>
              <a:rPr lang="nl-NL" dirty="0"/>
              <a:t> </a:t>
            </a:r>
            <a:r>
              <a:rPr lang="nl-NL" dirty="0" err="1"/>
              <a:t>reasonably</a:t>
            </a:r>
            <a:r>
              <a:rPr lang="nl-NL" dirty="0"/>
              <a:t> well.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Often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data is </a:t>
            </a:r>
            <a:r>
              <a:rPr lang="nl-NL" dirty="0" err="1"/>
              <a:t>noisy</a:t>
            </a:r>
            <a:r>
              <a:rPr lang="nl-NL" dirty="0"/>
              <a:t>, </a:t>
            </a:r>
            <a:r>
              <a:rPr lang="nl-NL" dirty="0" err="1"/>
              <a:t>however</a:t>
            </a:r>
            <a:r>
              <a:rPr lang="nl-NL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, we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apply</a:t>
            </a:r>
            <a:r>
              <a:rPr lang="nl-NL" dirty="0"/>
              <a:t> filters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our</a:t>
            </a:r>
            <a:r>
              <a:rPr lang="nl-NL" dirty="0"/>
              <a:t> data.</a:t>
            </a:r>
          </a:p>
          <a:p>
            <a:pPr lvl="1"/>
            <a:r>
              <a:rPr lang="nl-NL" dirty="0"/>
              <a:t>A filter </a:t>
            </a:r>
            <a:r>
              <a:rPr lang="nl-NL" dirty="0" err="1"/>
              <a:t>smoothes</a:t>
            </a:r>
            <a:r>
              <a:rPr lang="nl-NL" dirty="0"/>
              <a:t> out small </a:t>
            </a:r>
            <a:r>
              <a:rPr lang="nl-NL" dirty="0" err="1"/>
              <a:t>variations</a:t>
            </a:r>
            <a:r>
              <a:rPr lang="nl-NL" dirty="0"/>
              <a:t> in </a:t>
            </a:r>
            <a:r>
              <a:rPr lang="nl-NL" dirty="0" err="1"/>
              <a:t>the</a:t>
            </a:r>
            <a:r>
              <a:rPr lang="nl-NL" dirty="0"/>
              <a:t> data.</a:t>
            </a:r>
          </a:p>
          <a:p>
            <a:pPr lvl="1"/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think</a:t>
            </a:r>
            <a:r>
              <a:rPr lang="nl-NL" dirty="0"/>
              <a:t> of </a:t>
            </a:r>
            <a:r>
              <a:rPr lang="nl-NL" dirty="0" err="1"/>
              <a:t>them</a:t>
            </a:r>
            <a:r>
              <a:rPr lang="nl-NL" dirty="0"/>
              <a:t> in </a:t>
            </a:r>
            <a:r>
              <a:rPr lang="nl-NL" dirty="0" err="1"/>
              <a:t>terms</a:t>
            </a:r>
            <a:r>
              <a:rPr lang="nl-NL" dirty="0"/>
              <a:t> of audio data. Small </a:t>
            </a:r>
            <a:r>
              <a:rPr lang="nl-NL" dirty="0" err="1"/>
              <a:t>variations</a:t>
            </a:r>
            <a:r>
              <a:rPr lang="nl-NL" dirty="0"/>
              <a:t>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considered</a:t>
            </a:r>
            <a:r>
              <a:rPr lang="nl-NL" dirty="0"/>
              <a:t>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high </a:t>
            </a:r>
            <a:r>
              <a:rPr lang="nl-NL" dirty="0" err="1"/>
              <a:t>frequency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(</a:t>
            </a:r>
            <a:r>
              <a:rPr lang="nl-NL" dirty="0" err="1"/>
              <a:t>hiss</a:t>
            </a:r>
            <a:r>
              <a:rPr lang="nl-NL" dirty="0"/>
              <a:t>). An audio filter (like </a:t>
            </a:r>
            <a:r>
              <a:rPr lang="nl-NL" dirty="0" err="1"/>
              <a:t>an</a:t>
            </a:r>
            <a:r>
              <a:rPr lang="nl-NL" dirty="0"/>
              <a:t> equalizer)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remove</a:t>
            </a:r>
            <a:r>
              <a:rPr lang="nl-NL" dirty="0"/>
              <a:t> </a:t>
            </a:r>
            <a:r>
              <a:rPr lang="nl-NL" dirty="0" err="1"/>
              <a:t>those</a:t>
            </a:r>
            <a:r>
              <a:rPr lang="nl-NL" dirty="0"/>
              <a:t> high </a:t>
            </a:r>
            <a:r>
              <a:rPr lang="nl-NL" dirty="0" err="1"/>
              <a:t>frequencies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In </a:t>
            </a:r>
            <a:r>
              <a:rPr lang="nl-NL" dirty="0" err="1"/>
              <a:t>fact</a:t>
            </a:r>
            <a:r>
              <a:rPr lang="nl-NL" dirty="0"/>
              <a:t>, </a:t>
            </a:r>
            <a:r>
              <a:rPr lang="nl-NL" dirty="0" err="1"/>
              <a:t>one</a:t>
            </a:r>
            <a:r>
              <a:rPr lang="nl-NL" dirty="0"/>
              <a:t> of </a:t>
            </a:r>
            <a:r>
              <a:rPr lang="nl-NL" dirty="0" err="1"/>
              <a:t>the</a:t>
            </a:r>
            <a:r>
              <a:rPr lang="nl-NL" dirty="0"/>
              <a:t> filters in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demos</a:t>
            </a:r>
            <a:r>
              <a:rPr lang="nl-NL" dirty="0"/>
              <a:t> is </a:t>
            </a:r>
            <a:r>
              <a:rPr lang="nl-NL" dirty="0" err="1"/>
              <a:t>used</a:t>
            </a:r>
            <a:r>
              <a:rPr lang="nl-NL" dirty="0"/>
              <a:t> in audio </a:t>
            </a:r>
            <a:r>
              <a:rPr lang="nl-NL" dirty="0" err="1"/>
              <a:t>applications</a:t>
            </a:r>
            <a:r>
              <a:rPr lang="nl-NL" dirty="0"/>
              <a:t>! (synthesizers).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92448FD9-DBFF-6E1A-BB1F-D87573BD7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Removing noise</a:t>
            </a:r>
          </a:p>
        </p:txBody>
      </p:sp>
    </p:spTree>
    <p:extLst>
      <p:ext uri="{BB962C8B-B14F-4D97-AF65-F5344CB8AC3E}">
        <p14:creationId xmlns:p14="http://schemas.microsoft.com/office/powerpoint/2010/main" val="23679380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ekst 1">
            <a:extLst>
              <a:ext uri="{FF2B5EF4-FFF2-40B4-BE49-F238E27FC236}">
                <a16:creationId xmlns:a16="http://schemas.microsoft.com/office/drawing/2014/main" id="{AFA915BE-42BE-AB85-7D2F-27E85182F65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8: </a:t>
            </a:r>
            <a:r>
              <a:rPr lang="nl-NL" dirty="0" err="1"/>
              <a:t>smoothing</a:t>
            </a:r>
            <a:r>
              <a:rPr lang="nl-NL" dirty="0"/>
              <a:t> data </a:t>
            </a:r>
            <a:r>
              <a:rPr lang="nl-NL" dirty="0" err="1"/>
              <a:t>using</a:t>
            </a:r>
            <a:r>
              <a:rPr lang="nl-NL" dirty="0"/>
              <a:t> filters</a:t>
            </a:r>
          </a:p>
          <a:p>
            <a:pPr lvl="1"/>
            <a:r>
              <a:rPr lang="nl-NL" dirty="0"/>
              <a:t>For </a:t>
            </a:r>
            <a:r>
              <a:rPr lang="nl-NL" dirty="0" err="1"/>
              <a:t>synthetic</a:t>
            </a:r>
            <a:r>
              <a:rPr lang="nl-NL" dirty="0"/>
              <a:t> data, filters </a:t>
            </a:r>
            <a:r>
              <a:rPr lang="nl-NL" dirty="0" err="1"/>
              <a:t>work</a:t>
            </a:r>
            <a:r>
              <a:rPr lang="nl-NL" dirty="0"/>
              <a:t> </a:t>
            </a:r>
            <a:r>
              <a:rPr lang="nl-NL" dirty="0" err="1"/>
              <a:t>very</a:t>
            </a:r>
            <a:r>
              <a:rPr lang="nl-NL" dirty="0"/>
              <a:t> well - </a:t>
            </a:r>
            <a:r>
              <a:rPr lang="nl-NL" dirty="0" err="1"/>
              <a:t>because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is </a:t>
            </a:r>
            <a:r>
              <a:rPr lang="nl-NL" dirty="0" err="1"/>
              <a:t>likely</a:t>
            </a:r>
            <a:r>
              <a:rPr lang="nl-NL" dirty="0"/>
              <a:t> </a:t>
            </a:r>
            <a:r>
              <a:rPr lang="nl-NL" dirty="0" err="1"/>
              <a:t>just</a:t>
            </a:r>
            <a:r>
              <a:rPr lang="nl-NL" dirty="0"/>
              <a:t> </a:t>
            </a:r>
            <a:r>
              <a:rPr lang="nl-NL" dirty="0" err="1"/>
              <a:t>that</a:t>
            </a:r>
            <a:r>
              <a:rPr lang="nl-NL" dirty="0"/>
              <a:t>: </a:t>
            </a:r>
            <a:r>
              <a:rPr lang="nl-NL" dirty="0" err="1"/>
              <a:t>noise</a:t>
            </a:r>
            <a:r>
              <a:rPr lang="nl-NL" dirty="0"/>
              <a:t>.</a:t>
            </a:r>
          </a:p>
          <a:p>
            <a:pPr lvl="1"/>
            <a:r>
              <a:rPr lang="nl-NL" dirty="0"/>
              <a:t>For real data,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in </a:t>
            </a:r>
            <a:r>
              <a:rPr lang="nl-NL" dirty="0" err="1"/>
              <a:t>fact</a:t>
            </a:r>
            <a:r>
              <a:rPr lang="nl-NL" dirty="0"/>
              <a:t> </a:t>
            </a:r>
            <a:r>
              <a:rPr lang="nl-NL" dirty="0" err="1"/>
              <a:t>not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noise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may</a:t>
            </a:r>
            <a:r>
              <a:rPr lang="nl-NL" dirty="0"/>
              <a:t> even </a:t>
            </a:r>
            <a:r>
              <a:rPr lang="nl-NL" dirty="0" err="1"/>
              <a:t>contain</a:t>
            </a:r>
            <a:r>
              <a:rPr lang="nl-NL" dirty="0"/>
              <a:t> </a:t>
            </a:r>
            <a:r>
              <a:rPr lang="nl-NL" dirty="0" err="1"/>
              <a:t>additional</a:t>
            </a:r>
            <a:r>
              <a:rPr lang="nl-NL" dirty="0"/>
              <a:t> information.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nl-NL" dirty="0"/>
              <a:t>Demo 9: </a:t>
            </a:r>
            <a:r>
              <a:rPr lang="nl-NL" dirty="0" err="1"/>
              <a:t>smoothing</a:t>
            </a:r>
            <a:r>
              <a:rPr lang="nl-NL" dirty="0"/>
              <a:t> </a:t>
            </a:r>
            <a:r>
              <a:rPr lang="nl-NL" dirty="0" err="1"/>
              <a:t>sunspot</a:t>
            </a:r>
            <a:r>
              <a:rPr lang="nl-NL" dirty="0"/>
              <a:t> data </a:t>
            </a:r>
            <a:r>
              <a:rPr lang="nl-NL" dirty="0" err="1"/>
              <a:t>using</a:t>
            </a:r>
            <a:r>
              <a:rPr lang="nl-NL" dirty="0"/>
              <a:t> filters</a:t>
            </a:r>
          </a:p>
          <a:p>
            <a:endParaRPr lang="en-US" dirty="0"/>
          </a:p>
        </p:txBody>
      </p:sp>
      <p:sp>
        <p:nvSpPr>
          <p:cNvPr id="3" name="Titel 2">
            <a:extLst>
              <a:ext uri="{FF2B5EF4-FFF2-40B4-BE49-F238E27FC236}">
                <a16:creationId xmlns:a16="http://schemas.microsoft.com/office/drawing/2014/main" id="{55701493-6142-3672-E87B-2832463C9D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Filtering demos</a:t>
            </a:r>
          </a:p>
        </p:txBody>
      </p:sp>
    </p:spTree>
    <p:extLst>
      <p:ext uri="{BB962C8B-B14F-4D97-AF65-F5344CB8AC3E}">
        <p14:creationId xmlns:p14="http://schemas.microsoft.com/office/powerpoint/2010/main" val="136392324"/>
      </p:ext>
    </p:extLst>
  </p:cSld>
  <p:clrMapOvr>
    <a:masterClrMapping/>
  </p:clrMapOvr>
</p:sld>
</file>

<file path=ppt/theme/theme1.xml><?xml version="1.0" encoding="utf-8"?>
<a:theme xmlns:a="http://schemas.openxmlformats.org/drawingml/2006/main" name="Presentatie_Sm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2" id="{671DDF35-ECA7-4E3D-A33C-C8E03735DADE}" vid="{F5E29221-10C5-49DB-87C4-0557C1D5A8E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C6846675690041B0AEF76721A33550" ma:contentTypeVersion="12" ma:contentTypeDescription="Een nieuw document maken." ma:contentTypeScope="" ma:versionID="7d80b5b27cb88b7e670b1fbb7cd7de23">
  <xsd:schema xmlns:xsd="http://www.w3.org/2001/XMLSchema" xmlns:xs="http://www.w3.org/2001/XMLSchema" xmlns:p="http://schemas.microsoft.com/office/2006/metadata/properties" xmlns:ns2="6b01692f-8f45-4310-abfd-accd438f234f" xmlns:ns3="41d33a03-4c74-4b4d-8466-39dbc86d9cdb" targetNamespace="http://schemas.microsoft.com/office/2006/metadata/properties" ma:root="true" ma:fieldsID="2679454ac823c4dc22358f51a5683c7b" ns2:_="" ns3:_="">
    <xsd:import namespace="6b01692f-8f45-4310-abfd-accd438f234f"/>
    <xsd:import namespace="41d33a03-4c74-4b4d-8466-39dbc86d9cd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1692f-8f45-4310-abfd-accd438f234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9" nillable="true" ma:displayName="Length (seconds)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d33a03-4c74-4b4d-8466-39dbc86d9cdb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65827D5-5A12-48FB-BA20-1E7CB9BA5BA1}">
  <ds:schemaRefs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schemas.microsoft.com/office/2006/metadata/properties"/>
    <ds:schemaRef ds:uri="67c6fd78-9e9e-49b0-99f6-392b7eb0c25b"/>
    <ds:schemaRef ds:uri="http://purl.org/dc/terms/"/>
    <ds:schemaRef ds:uri="http://schemas.microsoft.com/office/infopath/2007/PartnerControls"/>
    <ds:schemaRef ds:uri="53aadeef-871c-4d8b-955c-28f1a1590244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E5A48691-3E40-4B9C-9CEF-B13064CE8A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b01692f-8f45-4310-abfd-accd438f234f"/>
    <ds:schemaRef ds:uri="41d33a03-4c74-4b4d-8466-39dbc86d9cd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E540D17-DFE7-4DA1-AB7C-9204237EF00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4721</TotalTime>
  <Words>906</Words>
  <Application>Microsoft Macintosh PowerPoint</Application>
  <PresentationFormat>Diavoorstelling (4:3)</PresentationFormat>
  <Paragraphs>76</Paragraphs>
  <Slides>14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14</vt:i4>
      </vt:variant>
    </vt:vector>
  </HeadingPairs>
  <TitlesOfParts>
    <vt:vector size="19" baseType="lpstr">
      <vt:lpstr>Arial</vt:lpstr>
      <vt:lpstr>Avenir Next Condensed</vt:lpstr>
      <vt:lpstr>Calibri</vt:lpstr>
      <vt:lpstr>Cambria Math</vt:lpstr>
      <vt:lpstr>Presentatie_Smal</vt:lpstr>
      <vt:lpstr>PowerPoint-presentatie</vt:lpstr>
      <vt:lpstr>Lecture overview</vt:lpstr>
      <vt:lpstr>Lesson goals</vt:lpstr>
      <vt:lpstr>Preparation recap</vt:lpstr>
      <vt:lpstr>Time Series Overview</vt:lpstr>
      <vt:lpstr>Demo 1: Naive forecast with example</vt:lpstr>
      <vt:lpstr>Slightly less naive forecasting: ARMA</vt:lpstr>
      <vt:lpstr>Demo 2 and 3</vt:lpstr>
      <vt:lpstr>Demo 4: reducing seasonality using differencing</vt:lpstr>
      <vt:lpstr>ARIMA and SARIMA</vt:lpstr>
      <vt:lpstr>Measuring the quality of a forecast</vt:lpstr>
      <vt:lpstr>Demos: statsmodels.tsa and statsmodels.graphics</vt:lpstr>
      <vt:lpstr>Removing noise</vt:lpstr>
      <vt:lpstr>Filtering demos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</dc:creator>
  <cp:lastModifiedBy>Matthijs de Jonge</cp:lastModifiedBy>
  <cp:revision>182</cp:revision>
  <dcterms:created xsi:type="dcterms:W3CDTF">2015-07-08T04:47:01Z</dcterms:created>
  <dcterms:modified xsi:type="dcterms:W3CDTF">2025-09-03T09:22:23Z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0x010100B2C6846675690041B0AEF76721A33550</vt:lpwstr>
  </property>
</Properties>
</file>